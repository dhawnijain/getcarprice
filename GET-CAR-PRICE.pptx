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mo" panose="020B0604020202020204" pitchFamily="34" charset="0"/>
      <p:regular r:id="rId14"/>
    </p:embeddedFont>
    <p:embeddedFont>
      <p:font typeface="Arimo Bold" panose="020B0704020202020204" pitchFamily="34" charset="0"/>
      <p:regular r:id="rId15"/>
      <p:bold r:id="rId16"/>
    </p:embeddedFont>
    <p:embeddedFont>
      <p:font typeface="Roboto Condensed" panose="020F0502020204030204" pitchFamily="34" charset="0"/>
      <p:regular r:id="rId17"/>
    </p:embeddedFont>
    <p:embeddedFont>
      <p:font typeface="Roboto Condensed Bold" panose="02000000000000000000" pitchFamily="2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93" autoAdjust="0"/>
  </p:normalViewPr>
  <p:slideViewPr>
    <p:cSldViewPr>
      <p:cViewPr varScale="1">
        <p:scale>
          <a:sx n="73" d="100"/>
          <a:sy n="73" d="100"/>
        </p:scale>
        <p:origin x="7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0237" y="3977134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GET CAR PRICE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0237" y="5250210"/>
            <a:ext cx="9445526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 innovative project leveraging machine learning to accurately estimate used car prices.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18288000" cy="3544044"/>
            <a:chOff x="0" y="0"/>
            <a:chExt cx="24384000" cy="472539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725416"/>
            </a:xfrm>
            <a:custGeom>
              <a:avLst/>
              <a:gdLst/>
              <a:ahLst/>
              <a:cxnLst/>
              <a:rect l="l" t="t" r="r" b="b"/>
              <a:pathLst>
                <a:path w="24384000" h="4725416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r="-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4430762"/>
            <a:ext cx="7088237" cy="943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GET CAR PRICE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703837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1E1E1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Subtitle: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Predicting used car prices based on various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476405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1E1E1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By: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[Dhawni Jain (S24CSEU0864)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248971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Himanshu (S24CSEU0724)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8021539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  Dev (S24CSEU0835) ]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8794105"/>
            <a:ext cx="16303526" cy="548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1E1E1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Tools Used: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Python, Flask, HTML, CSS, Pandas, 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75122" y="709017"/>
            <a:ext cx="16337756" cy="179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Introduction: Bridging the Gap in Car Valuation for GET CAR PRICE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122" y="2969419"/>
            <a:ext cx="16337756" cy="98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project aims to predict the selling price of a used car based on several crucial factors. By analyzing key attributes, we provide an accurate market value estimate.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5122" y="4269581"/>
            <a:ext cx="5260181" cy="2106960"/>
            <a:chOff x="0" y="0"/>
            <a:chExt cx="7013575" cy="28092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13575" cy="2809240"/>
            </a:xfrm>
            <a:custGeom>
              <a:avLst/>
              <a:gdLst/>
              <a:ahLst/>
              <a:cxnLst/>
              <a:rect l="l" t="t" r="r" b="b"/>
              <a:pathLst>
                <a:path w="7013575" h="280924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6957822" y="0"/>
                  </a:lnTo>
                  <a:cubicBezTo>
                    <a:pt x="6988556" y="0"/>
                    <a:pt x="7013575" y="24892"/>
                    <a:pt x="7013575" y="55753"/>
                  </a:cubicBezTo>
                  <a:lnTo>
                    <a:pt x="7013575" y="2753487"/>
                  </a:lnTo>
                  <a:cubicBezTo>
                    <a:pt x="7013575" y="2784221"/>
                    <a:pt x="6988683" y="2809240"/>
                    <a:pt x="6957822" y="2809240"/>
                  </a:cubicBezTo>
                  <a:lnTo>
                    <a:pt x="55753" y="2809240"/>
                  </a:lnTo>
                  <a:cubicBezTo>
                    <a:pt x="25019" y="2809240"/>
                    <a:pt x="0" y="2784348"/>
                    <a:pt x="0" y="2753487"/>
                  </a:cubicBezTo>
                  <a:close/>
                </a:path>
              </a:pathLst>
            </a:custGeom>
            <a:solidFill>
              <a:srgbClr val="D8D9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3729" y="4548187"/>
            <a:ext cx="835819" cy="835819"/>
            <a:chOff x="0" y="0"/>
            <a:chExt cx="1114425" cy="11144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483519" y="4777979"/>
            <a:ext cx="376089" cy="376089"/>
          </a:xfrm>
          <a:custGeom>
            <a:avLst/>
            <a:gdLst/>
            <a:ahLst/>
            <a:cxnLst/>
            <a:rect l="l" t="t" r="r" b="b"/>
            <a:pathLst>
              <a:path w="376089" h="376089">
                <a:moveTo>
                  <a:pt x="0" y="0"/>
                </a:moveTo>
                <a:lnTo>
                  <a:pt x="376089" y="0"/>
                </a:lnTo>
                <a:lnTo>
                  <a:pt x="376089" y="376089"/>
                </a:lnTo>
                <a:lnTo>
                  <a:pt x="0" y="3760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r="-7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53729" y="5634037"/>
            <a:ext cx="4179837" cy="46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Company and Model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13910" y="4269581"/>
            <a:ext cx="5260181" cy="2106960"/>
            <a:chOff x="0" y="0"/>
            <a:chExt cx="7013575" cy="28092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13575" cy="2809240"/>
            </a:xfrm>
            <a:custGeom>
              <a:avLst/>
              <a:gdLst/>
              <a:ahLst/>
              <a:cxnLst/>
              <a:rect l="l" t="t" r="r" b="b"/>
              <a:pathLst>
                <a:path w="7013575" h="280924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6957822" y="0"/>
                  </a:lnTo>
                  <a:cubicBezTo>
                    <a:pt x="6988556" y="0"/>
                    <a:pt x="7013575" y="24892"/>
                    <a:pt x="7013575" y="55753"/>
                  </a:cubicBezTo>
                  <a:lnTo>
                    <a:pt x="7013575" y="2753487"/>
                  </a:lnTo>
                  <a:cubicBezTo>
                    <a:pt x="7013575" y="2784221"/>
                    <a:pt x="6988683" y="2809240"/>
                    <a:pt x="6957822" y="2809240"/>
                  </a:cubicBezTo>
                  <a:lnTo>
                    <a:pt x="55753" y="2809240"/>
                  </a:lnTo>
                  <a:cubicBezTo>
                    <a:pt x="25019" y="2809240"/>
                    <a:pt x="0" y="2784348"/>
                    <a:pt x="0" y="2753487"/>
                  </a:cubicBezTo>
                  <a:close/>
                </a:path>
              </a:pathLst>
            </a:custGeom>
            <a:solidFill>
              <a:srgbClr val="D8D9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792516" y="4548187"/>
            <a:ext cx="835819" cy="835819"/>
            <a:chOff x="0" y="0"/>
            <a:chExt cx="1114425" cy="11144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7022306" y="4777979"/>
            <a:ext cx="376089" cy="376089"/>
          </a:xfrm>
          <a:custGeom>
            <a:avLst/>
            <a:gdLst/>
            <a:ahLst/>
            <a:cxnLst/>
            <a:rect l="l" t="t" r="r" b="b"/>
            <a:pathLst>
              <a:path w="376089" h="376089">
                <a:moveTo>
                  <a:pt x="0" y="0"/>
                </a:moveTo>
                <a:lnTo>
                  <a:pt x="376089" y="0"/>
                </a:lnTo>
                <a:lnTo>
                  <a:pt x="376089" y="376089"/>
                </a:lnTo>
                <a:lnTo>
                  <a:pt x="0" y="3760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792516" y="5634037"/>
            <a:ext cx="4539406" cy="46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Year of Manufacture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52698" y="4269581"/>
            <a:ext cx="5260181" cy="2106960"/>
            <a:chOff x="0" y="0"/>
            <a:chExt cx="7013575" cy="2809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013575" cy="2809240"/>
            </a:xfrm>
            <a:custGeom>
              <a:avLst/>
              <a:gdLst/>
              <a:ahLst/>
              <a:cxnLst/>
              <a:rect l="l" t="t" r="r" b="b"/>
              <a:pathLst>
                <a:path w="7013575" h="280924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6957822" y="0"/>
                  </a:lnTo>
                  <a:cubicBezTo>
                    <a:pt x="6988556" y="0"/>
                    <a:pt x="7013575" y="24892"/>
                    <a:pt x="7013575" y="55753"/>
                  </a:cubicBezTo>
                  <a:lnTo>
                    <a:pt x="7013575" y="2753487"/>
                  </a:lnTo>
                  <a:cubicBezTo>
                    <a:pt x="7013575" y="2784221"/>
                    <a:pt x="6988683" y="2809240"/>
                    <a:pt x="6957822" y="2809240"/>
                  </a:cubicBezTo>
                  <a:lnTo>
                    <a:pt x="55753" y="2809240"/>
                  </a:lnTo>
                  <a:cubicBezTo>
                    <a:pt x="25019" y="2809240"/>
                    <a:pt x="0" y="2784348"/>
                    <a:pt x="0" y="2753487"/>
                  </a:cubicBezTo>
                  <a:close/>
                </a:path>
              </a:pathLst>
            </a:custGeom>
            <a:solidFill>
              <a:srgbClr val="D8D9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331304" y="4548187"/>
            <a:ext cx="835819" cy="835819"/>
            <a:chOff x="0" y="0"/>
            <a:chExt cx="1114425" cy="11144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12561094" y="4777979"/>
            <a:ext cx="376089" cy="376089"/>
          </a:xfrm>
          <a:custGeom>
            <a:avLst/>
            <a:gdLst/>
            <a:ahLst/>
            <a:cxnLst/>
            <a:rect l="l" t="t" r="r" b="b"/>
            <a:pathLst>
              <a:path w="376089" h="376089">
                <a:moveTo>
                  <a:pt x="0" y="0"/>
                </a:moveTo>
                <a:lnTo>
                  <a:pt x="376088" y="0"/>
                </a:lnTo>
                <a:lnTo>
                  <a:pt x="376088" y="376089"/>
                </a:lnTo>
                <a:lnTo>
                  <a:pt x="0" y="3760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1249" b="-12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2331304" y="5634037"/>
            <a:ext cx="3482876" cy="46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Fuel Type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75122" y="6655147"/>
            <a:ext cx="8029575" cy="2106960"/>
            <a:chOff x="0" y="0"/>
            <a:chExt cx="10706100" cy="280928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06100" cy="2809240"/>
            </a:xfrm>
            <a:custGeom>
              <a:avLst/>
              <a:gdLst/>
              <a:ahLst/>
              <a:cxnLst/>
              <a:rect l="l" t="t" r="r" b="b"/>
              <a:pathLst>
                <a:path w="10706100" h="280924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10650347" y="0"/>
                  </a:lnTo>
                  <a:cubicBezTo>
                    <a:pt x="10681208" y="0"/>
                    <a:pt x="10706100" y="24892"/>
                    <a:pt x="10706100" y="55753"/>
                  </a:cubicBezTo>
                  <a:lnTo>
                    <a:pt x="10706100" y="2753487"/>
                  </a:lnTo>
                  <a:cubicBezTo>
                    <a:pt x="10706100" y="2784221"/>
                    <a:pt x="10681208" y="2809240"/>
                    <a:pt x="10650347" y="2809240"/>
                  </a:cubicBezTo>
                  <a:lnTo>
                    <a:pt x="55753" y="2809240"/>
                  </a:lnTo>
                  <a:cubicBezTo>
                    <a:pt x="25019" y="2809240"/>
                    <a:pt x="0" y="2784348"/>
                    <a:pt x="0" y="2753487"/>
                  </a:cubicBezTo>
                  <a:close/>
                </a:path>
              </a:pathLst>
            </a:custGeom>
            <a:solidFill>
              <a:srgbClr val="D8D9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53729" y="6933754"/>
            <a:ext cx="835819" cy="835819"/>
            <a:chOff x="0" y="0"/>
            <a:chExt cx="1114425" cy="11144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483519" y="7163544"/>
            <a:ext cx="376089" cy="376089"/>
          </a:xfrm>
          <a:custGeom>
            <a:avLst/>
            <a:gdLst/>
            <a:ahLst/>
            <a:cxnLst/>
            <a:rect l="l" t="t" r="r" b="b"/>
            <a:pathLst>
              <a:path w="376089" h="376089">
                <a:moveTo>
                  <a:pt x="0" y="0"/>
                </a:moveTo>
                <a:lnTo>
                  <a:pt x="376089" y="0"/>
                </a:lnTo>
                <a:lnTo>
                  <a:pt x="376089" y="376088"/>
                </a:lnTo>
                <a:lnTo>
                  <a:pt x="0" y="376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253729" y="8019604"/>
            <a:ext cx="4091731" cy="46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Kilometers Driven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83302" y="6655147"/>
            <a:ext cx="8029575" cy="2106960"/>
            <a:chOff x="0" y="0"/>
            <a:chExt cx="10706100" cy="28092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06100" cy="2809240"/>
            </a:xfrm>
            <a:custGeom>
              <a:avLst/>
              <a:gdLst/>
              <a:ahLst/>
              <a:cxnLst/>
              <a:rect l="l" t="t" r="r" b="b"/>
              <a:pathLst>
                <a:path w="10706100" h="2809240">
                  <a:moveTo>
                    <a:pt x="0" y="55753"/>
                  </a:moveTo>
                  <a:cubicBezTo>
                    <a:pt x="0" y="24892"/>
                    <a:pt x="24892" y="0"/>
                    <a:pt x="55753" y="0"/>
                  </a:cubicBezTo>
                  <a:lnTo>
                    <a:pt x="10650347" y="0"/>
                  </a:lnTo>
                  <a:cubicBezTo>
                    <a:pt x="10681208" y="0"/>
                    <a:pt x="10706100" y="24892"/>
                    <a:pt x="10706100" y="55753"/>
                  </a:cubicBezTo>
                  <a:lnTo>
                    <a:pt x="10706100" y="2753487"/>
                  </a:lnTo>
                  <a:cubicBezTo>
                    <a:pt x="10706100" y="2784221"/>
                    <a:pt x="10681208" y="2809240"/>
                    <a:pt x="10650347" y="2809240"/>
                  </a:cubicBezTo>
                  <a:lnTo>
                    <a:pt x="55753" y="2809240"/>
                  </a:lnTo>
                  <a:cubicBezTo>
                    <a:pt x="25019" y="2809240"/>
                    <a:pt x="0" y="2784348"/>
                    <a:pt x="0" y="2753487"/>
                  </a:cubicBezTo>
                  <a:close/>
                </a:path>
              </a:pathLst>
            </a:custGeom>
            <a:solidFill>
              <a:srgbClr val="D8D9D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61910" y="6933754"/>
            <a:ext cx="835819" cy="835819"/>
            <a:chOff x="0" y="0"/>
            <a:chExt cx="1114425" cy="111442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14425" cy="1114425"/>
            </a:xfrm>
            <a:custGeom>
              <a:avLst/>
              <a:gdLst/>
              <a:ahLst/>
              <a:cxnLst/>
              <a:rect l="l" t="t" r="r" b="b"/>
              <a:pathLst>
                <a:path w="1114425" h="1114425">
                  <a:moveTo>
                    <a:pt x="0" y="557276"/>
                  </a:moveTo>
                  <a:cubicBezTo>
                    <a:pt x="0" y="249428"/>
                    <a:pt x="249428" y="0"/>
                    <a:pt x="557149" y="0"/>
                  </a:cubicBezTo>
                  <a:cubicBezTo>
                    <a:pt x="864870" y="0"/>
                    <a:pt x="1114425" y="249428"/>
                    <a:pt x="1114425" y="557149"/>
                  </a:cubicBezTo>
                  <a:cubicBezTo>
                    <a:pt x="1114425" y="864870"/>
                    <a:pt x="864997" y="1114425"/>
                    <a:pt x="557276" y="1114425"/>
                  </a:cubicBezTo>
                  <a:cubicBezTo>
                    <a:pt x="249555" y="1114425"/>
                    <a:pt x="0" y="864997"/>
                    <a:pt x="0" y="557276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Freeform 36" descr="preencoded.png"/>
          <p:cNvSpPr/>
          <p:nvPr/>
        </p:nvSpPr>
        <p:spPr>
          <a:xfrm>
            <a:off x="9791700" y="7163544"/>
            <a:ext cx="376089" cy="376089"/>
          </a:xfrm>
          <a:custGeom>
            <a:avLst/>
            <a:gdLst/>
            <a:ahLst/>
            <a:cxnLst/>
            <a:rect l="l" t="t" r="r" b="b"/>
            <a:pathLst>
              <a:path w="376089" h="376089">
                <a:moveTo>
                  <a:pt x="0" y="0"/>
                </a:moveTo>
                <a:lnTo>
                  <a:pt x="376089" y="0"/>
                </a:lnTo>
                <a:lnTo>
                  <a:pt x="376089" y="376088"/>
                </a:lnTo>
                <a:lnTo>
                  <a:pt x="0" y="3760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7500" r="-75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9561910" y="8019604"/>
            <a:ext cx="5858470" cy="46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Ownership &amp; Transmission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5122" y="8980289"/>
            <a:ext cx="16337756" cy="54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 built a </a:t>
            </a:r>
            <a:r>
              <a:rPr lang="en-US" sz="218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Machine Learning Model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integrated it with a </a:t>
            </a:r>
            <a:r>
              <a:rPr lang="en-US" sz="218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Flask Web App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real-time, user-friendly predictions for </a:t>
            </a:r>
            <a:r>
              <a:rPr lang="en-US" sz="218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GET CAR PRICE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53951" y="1070967"/>
            <a:ext cx="9556700" cy="631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GET CAR PRICE: Project Objectives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3951" y="2262931"/>
            <a:ext cx="10122099" cy="1376065"/>
            <a:chOff x="0" y="0"/>
            <a:chExt cx="13496132" cy="18347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96162" cy="1834769"/>
            </a:xfrm>
            <a:custGeom>
              <a:avLst/>
              <a:gdLst/>
              <a:ahLst/>
              <a:cxnLst/>
              <a:rect l="l" t="t" r="r" b="b"/>
              <a:pathLst>
                <a:path w="13496162" h="183476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243" y="0"/>
                  </a:lnTo>
                  <a:cubicBezTo>
                    <a:pt x="13441553" y="0"/>
                    <a:pt x="13496162" y="54610"/>
                    <a:pt x="13496162" y="121920"/>
                  </a:cubicBezTo>
                  <a:lnTo>
                    <a:pt x="13496162" y="1712849"/>
                  </a:lnTo>
                  <a:cubicBezTo>
                    <a:pt x="13496162" y="1780159"/>
                    <a:pt x="13441553" y="1834769"/>
                    <a:pt x="13374243" y="1834769"/>
                  </a:cubicBezTo>
                  <a:lnTo>
                    <a:pt x="121920" y="1834769"/>
                  </a:lnTo>
                  <a:cubicBezTo>
                    <a:pt x="54610" y="1834769"/>
                    <a:pt x="0" y="1780159"/>
                    <a:pt x="0" y="1712849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53951" y="2243881"/>
            <a:ext cx="10122099" cy="76200"/>
            <a:chOff x="0" y="0"/>
            <a:chExt cx="13496132" cy="101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496037" cy="101600"/>
            </a:xfrm>
            <a:custGeom>
              <a:avLst/>
              <a:gdLst/>
              <a:ahLst/>
              <a:cxnLst/>
              <a:rect l="l" t="t" r="r" b="b"/>
              <a:pathLst>
                <a:path w="13496037" h="101600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8698" y="0"/>
                  </a:lnTo>
                  <a:cubicBezTo>
                    <a:pt x="13479399" y="0"/>
                    <a:pt x="13496037" y="16764"/>
                    <a:pt x="13496037" y="37338"/>
                  </a:cubicBezTo>
                  <a:lnTo>
                    <a:pt x="13496037" y="64262"/>
                  </a:lnTo>
                  <a:cubicBezTo>
                    <a:pt x="13496037" y="84963"/>
                    <a:pt x="13479273" y="101600"/>
                    <a:pt x="13458698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34756" y="1982689"/>
            <a:ext cx="560486" cy="560486"/>
            <a:chOff x="0" y="0"/>
            <a:chExt cx="747315" cy="7473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47268" cy="747268"/>
            </a:xfrm>
            <a:custGeom>
              <a:avLst/>
              <a:gdLst/>
              <a:ahLst/>
              <a:cxnLst/>
              <a:rect l="l" t="t" r="r" b="b"/>
              <a:pathLst>
                <a:path w="747268" h="747268">
                  <a:moveTo>
                    <a:pt x="0" y="373634"/>
                  </a:moveTo>
                  <a:cubicBezTo>
                    <a:pt x="0" y="167259"/>
                    <a:pt x="167259" y="0"/>
                    <a:pt x="373634" y="0"/>
                  </a:cubicBezTo>
                  <a:cubicBezTo>
                    <a:pt x="580009" y="0"/>
                    <a:pt x="747268" y="167259"/>
                    <a:pt x="747268" y="373634"/>
                  </a:cubicBezTo>
                  <a:cubicBezTo>
                    <a:pt x="747268" y="580009"/>
                    <a:pt x="580009" y="747268"/>
                    <a:pt x="373634" y="747268"/>
                  </a:cubicBezTo>
                  <a:cubicBezTo>
                    <a:pt x="167259" y="747268"/>
                    <a:pt x="0" y="580009"/>
                    <a:pt x="0" y="373634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602932" y="2027485"/>
            <a:ext cx="224135" cy="3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9780" y="2701529"/>
            <a:ext cx="3487341" cy="32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Fair Market Estimation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9780" y="3067496"/>
            <a:ext cx="9710440" cy="36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Help users accurately estimate the fair market price of a used car, fostering transparency in transactions.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53951" y="4106019"/>
            <a:ext cx="10122099" cy="1376065"/>
            <a:chOff x="0" y="0"/>
            <a:chExt cx="13496132" cy="18347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96162" cy="1834769"/>
            </a:xfrm>
            <a:custGeom>
              <a:avLst/>
              <a:gdLst/>
              <a:ahLst/>
              <a:cxnLst/>
              <a:rect l="l" t="t" r="r" b="b"/>
              <a:pathLst>
                <a:path w="13496162" h="183476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243" y="0"/>
                  </a:lnTo>
                  <a:cubicBezTo>
                    <a:pt x="13441553" y="0"/>
                    <a:pt x="13496162" y="54610"/>
                    <a:pt x="13496162" y="121920"/>
                  </a:cubicBezTo>
                  <a:lnTo>
                    <a:pt x="13496162" y="1712849"/>
                  </a:lnTo>
                  <a:cubicBezTo>
                    <a:pt x="13496162" y="1780159"/>
                    <a:pt x="13441553" y="1834769"/>
                    <a:pt x="13374243" y="1834769"/>
                  </a:cubicBezTo>
                  <a:lnTo>
                    <a:pt x="121920" y="1834769"/>
                  </a:lnTo>
                  <a:cubicBezTo>
                    <a:pt x="54610" y="1834769"/>
                    <a:pt x="0" y="1780159"/>
                    <a:pt x="0" y="1712849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3951" y="4086969"/>
            <a:ext cx="10122099" cy="76200"/>
            <a:chOff x="0" y="0"/>
            <a:chExt cx="13496132" cy="101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96037" cy="101600"/>
            </a:xfrm>
            <a:custGeom>
              <a:avLst/>
              <a:gdLst/>
              <a:ahLst/>
              <a:cxnLst/>
              <a:rect l="l" t="t" r="r" b="b"/>
              <a:pathLst>
                <a:path w="13496037" h="101600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8698" y="0"/>
                  </a:lnTo>
                  <a:cubicBezTo>
                    <a:pt x="13479399" y="0"/>
                    <a:pt x="13496037" y="16764"/>
                    <a:pt x="13496037" y="37338"/>
                  </a:cubicBezTo>
                  <a:lnTo>
                    <a:pt x="13496037" y="64262"/>
                  </a:lnTo>
                  <a:cubicBezTo>
                    <a:pt x="13496037" y="84963"/>
                    <a:pt x="13479273" y="101600"/>
                    <a:pt x="13458698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34756" y="3825776"/>
            <a:ext cx="560486" cy="560486"/>
            <a:chOff x="0" y="0"/>
            <a:chExt cx="747315" cy="7473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47268" cy="747268"/>
            </a:xfrm>
            <a:custGeom>
              <a:avLst/>
              <a:gdLst/>
              <a:ahLst/>
              <a:cxnLst/>
              <a:rect l="l" t="t" r="r" b="b"/>
              <a:pathLst>
                <a:path w="747268" h="747268">
                  <a:moveTo>
                    <a:pt x="0" y="373634"/>
                  </a:moveTo>
                  <a:cubicBezTo>
                    <a:pt x="0" y="167259"/>
                    <a:pt x="167259" y="0"/>
                    <a:pt x="373634" y="0"/>
                  </a:cubicBezTo>
                  <a:cubicBezTo>
                    <a:pt x="580009" y="0"/>
                    <a:pt x="747268" y="167259"/>
                    <a:pt x="747268" y="373634"/>
                  </a:cubicBezTo>
                  <a:cubicBezTo>
                    <a:pt x="747268" y="580009"/>
                    <a:pt x="580009" y="747268"/>
                    <a:pt x="373634" y="747268"/>
                  </a:cubicBezTo>
                  <a:cubicBezTo>
                    <a:pt x="167259" y="747268"/>
                    <a:pt x="0" y="580009"/>
                    <a:pt x="0" y="373634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602932" y="3870572"/>
            <a:ext cx="224135" cy="3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9780" y="4544616"/>
            <a:ext cx="4551610" cy="32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Linear Regression Application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9780" y="4910584"/>
            <a:ext cx="9710440" cy="36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Apply </a:t>
            </a:r>
            <a:r>
              <a:rPr lang="en-US" sz="143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Linear Regression</a:t>
            </a: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 fundamental statistical model, for robust predictive analysis within the GET CAR PRICE project.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53951" y="5949106"/>
            <a:ext cx="10122099" cy="1376065"/>
            <a:chOff x="0" y="0"/>
            <a:chExt cx="13496132" cy="18347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496162" cy="1834769"/>
            </a:xfrm>
            <a:custGeom>
              <a:avLst/>
              <a:gdLst/>
              <a:ahLst/>
              <a:cxnLst/>
              <a:rect l="l" t="t" r="r" b="b"/>
              <a:pathLst>
                <a:path w="13496162" h="183476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243" y="0"/>
                  </a:lnTo>
                  <a:cubicBezTo>
                    <a:pt x="13441553" y="0"/>
                    <a:pt x="13496162" y="54610"/>
                    <a:pt x="13496162" y="121920"/>
                  </a:cubicBezTo>
                  <a:lnTo>
                    <a:pt x="13496162" y="1712849"/>
                  </a:lnTo>
                  <a:cubicBezTo>
                    <a:pt x="13496162" y="1780159"/>
                    <a:pt x="13441553" y="1834769"/>
                    <a:pt x="13374243" y="1834769"/>
                  </a:cubicBezTo>
                  <a:lnTo>
                    <a:pt x="121920" y="1834769"/>
                  </a:lnTo>
                  <a:cubicBezTo>
                    <a:pt x="54610" y="1834769"/>
                    <a:pt x="0" y="1780159"/>
                    <a:pt x="0" y="1712849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3951" y="5930056"/>
            <a:ext cx="10122099" cy="76200"/>
            <a:chOff x="0" y="0"/>
            <a:chExt cx="13496132" cy="101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96037" cy="101600"/>
            </a:xfrm>
            <a:custGeom>
              <a:avLst/>
              <a:gdLst/>
              <a:ahLst/>
              <a:cxnLst/>
              <a:rect l="l" t="t" r="r" b="b"/>
              <a:pathLst>
                <a:path w="13496037" h="101600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8698" y="0"/>
                  </a:lnTo>
                  <a:cubicBezTo>
                    <a:pt x="13479399" y="0"/>
                    <a:pt x="13496037" y="16764"/>
                    <a:pt x="13496037" y="37338"/>
                  </a:cubicBezTo>
                  <a:lnTo>
                    <a:pt x="13496037" y="64262"/>
                  </a:lnTo>
                  <a:cubicBezTo>
                    <a:pt x="13496037" y="84963"/>
                    <a:pt x="13479273" y="101600"/>
                    <a:pt x="13458698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34756" y="5668864"/>
            <a:ext cx="560486" cy="560486"/>
            <a:chOff x="0" y="0"/>
            <a:chExt cx="747315" cy="74731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47268" cy="747268"/>
            </a:xfrm>
            <a:custGeom>
              <a:avLst/>
              <a:gdLst/>
              <a:ahLst/>
              <a:cxnLst/>
              <a:rect l="l" t="t" r="r" b="b"/>
              <a:pathLst>
                <a:path w="747268" h="747268">
                  <a:moveTo>
                    <a:pt x="0" y="373634"/>
                  </a:moveTo>
                  <a:cubicBezTo>
                    <a:pt x="0" y="167259"/>
                    <a:pt x="167259" y="0"/>
                    <a:pt x="373634" y="0"/>
                  </a:cubicBezTo>
                  <a:cubicBezTo>
                    <a:pt x="580009" y="0"/>
                    <a:pt x="747268" y="167259"/>
                    <a:pt x="747268" y="373634"/>
                  </a:cubicBezTo>
                  <a:cubicBezTo>
                    <a:pt x="747268" y="580009"/>
                    <a:pt x="580009" y="747268"/>
                    <a:pt x="373634" y="747268"/>
                  </a:cubicBezTo>
                  <a:cubicBezTo>
                    <a:pt x="167259" y="747268"/>
                    <a:pt x="0" y="580009"/>
                    <a:pt x="0" y="373634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5602932" y="5713660"/>
            <a:ext cx="224135" cy="3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9780" y="6387704"/>
            <a:ext cx="3945731" cy="32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Interactive Web Interface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9780" y="6753671"/>
            <a:ext cx="9710440" cy="36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Build a dynamic and intuitive </a:t>
            </a:r>
            <a:r>
              <a:rPr lang="en-US" sz="143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web interface</a:t>
            </a: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using Flask for seamless user interaction for GET CAR PRICE.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53951" y="7792194"/>
            <a:ext cx="10122099" cy="1376065"/>
            <a:chOff x="0" y="0"/>
            <a:chExt cx="13496132" cy="183475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3496162" cy="1834769"/>
            </a:xfrm>
            <a:custGeom>
              <a:avLst/>
              <a:gdLst/>
              <a:ahLst/>
              <a:cxnLst/>
              <a:rect l="l" t="t" r="r" b="b"/>
              <a:pathLst>
                <a:path w="13496162" h="1834769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13374243" y="0"/>
                  </a:lnTo>
                  <a:cubicBezTo>
                    <a:pt x="13441553" y="0"/>
                    <a:pt x="13496162" y="54610"/>
                    <a:pt x="13496162" y="121920"/>
                  </a:cubicBezTo>
                  <a:lnTo>
                    <a:pt x="13496162" y="1712849"/>
                  </a:lnTo>
                  <a:cubicBezTo>
                    <a:pt x="13496162" y="1780159"/>
                    <a:pt x="13441553" y="1834769"/>
                    <a:pt x="13374243" y="1834769"/>
                  </a:cubicBezTo>
                  <a:lnTo>
                    <a:pt x="121920" y="1834769"/>
                  </a:lnTo>
                  <a:cubicBezTo>
                    <a:pt x="54610" y="1834769"/>
                    <a:pt x="0" y="1780159"/>
                    <a:pt x="0" y="1712849"/>
                  </a:cubicBez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3951" y="7773144"/>
            <a:ext cx="10122099" cy="76200"/>
            <a:chOff x="0" y="0"/>
            <a:chExt cx="13496132" cy="1016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496037" cy="101600"/>
            </a:xfrm>
            <a:custGeom>
              <a:avLst/>
              <a:gdLst/>
              <a:ahLst/>
              <a:cxnLst/>
              <a:rect l="l" t="t" r="r" b="b"/>
              <a:pathLst>
                <a:path w="13496037" h="101600">
                  <a:moveTo>
                    <a:pt x="0" y="37338"/>
                  </a:moveTo>
                  <a:cubicBezTo>
                    <a:pt x="0" y="16764"/>
                    <a:pt x="16764" y="0"/>
                    <a:pt x="37338" y="0"/>
                  </a:cubicBezTo>
                  <a:lnTo>
                    <a:pt x="13458698" y="0"/>
                  </a:lnTo>
                  <a:cubicBezTo>
                    <a:pt x="13479399" y="0"/>
                    <a:pt x="13496037" y="16764"/>
                    <a:pt x="13496037" y="37338"/>
                  </a:cubicBezTo>
                  <a:lnTo>
                    <a:pt x="13496037" y="64262"/>
                  </a:lnTo>
                  <a:cubicBezTo>
                    <a:pt x="13496037" y="84963"/>
                    <a:pt x="13479273" y="101600"/>
                    <a:pt x="13458698" y="101600"/>
                  </a:cubicBezTo>
                  <a:lnTo>
                    <a:pt x="37338" y="101600"/>
                  </a:lnTo>
                  <a:cubicBezTo>
                    <a:pt x="16764" y="101600"/>
                    <a:pt x="0" y="84836"/>
                    <a:pt x="0" y="64262"/>
                  </a:cubicBez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434756" y="7511951"/>
            <a:ext cx="560486" cy="560486"/>
            <a:chOff x="0" y="0"/>
            <a:chExt cx="747315" cy="74731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47268" cy="747268"/>
            </a:xfrm>
            <a:custGeom>
              <a:avLst/>
              <a:gdLst/>
              <a:ahLst/>
              <a:cxnLst/>
              <a:rect l="l" t="t" r="r" b="b"/>
              <a:pathLst>
                <a:path w="747268" h="747268">
                  <a:moveTo>
                    <a:pt x="0" y="373634"/>
                  </a:moveTo>
                  <a:cubicBezTo>
                    <a:pt x="0" y="167259"/>
                    <a:pt x="167259" y="0"/>
                    <a:pt x="373634" y="0"/>
                  </a:cubicBezTo>
                  <a:cubicBezTo>
                    <a:pt x="580009" y="0"/>
                    <a:pt x="747268" y="167259"/>
                    <a:pt x="747268" y="373634"/>
                  </a:cubicBezTo>
                  <a:cubicBezTo>
                    <a:pt x="747268" y="580009"/>
                    <a:pt x="580009" y="747268"/>
                    <a:pt x="373634" y="747268"/>
                  </a:cubicBezTo>
                  <a:cubicBezTo>
                    <a:pt x="167259" y="747268"/>
                    <a:pt x="0" y="580009"/>
                    <a:pt x="0" y="373634"/>
                  </a:cubicBezTo>
                  <a:close/>
                </a:path>
              </a:pathLst>
            </a:custGeom>
            <a:solidFill>
              <a:srgbClr val="C8CAC1">
                <a:alpha val="24706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5602932" y="7556747"/>
            <a:ext cx="224135" cy="37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9780" y="8230790"/>
            <a:ext cx="3691830" cy="32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End-to-End ML Deployment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9780" y="8596759"/>
            <a:ext cx="9710440" cy="36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Demonstrate comprehensive </a:t>
            </a:r>
            <a:r>
              <a:rPr lang="en-US" sz="1437" b="1">
                <a:solidFill>
                  <a:srgbClr val="55575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end-to-end deployment</a:t>
            </a:r>
            <a:r>
              <a:rPr lang="en-US" sz="143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of a machine learning model, from data to web, for GET CAR PRICE.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80424" y="1118741"/>
            <a:ext cx="9785151" cy="151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Dataset: The Foundation of Our Prediction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80424" y="3194149"/>
            <a:ext cx="5107930" cy="3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Dataset Name: </a:t>
            </a:r>
            <a:r>
              <a:rPr lang="en-US" sz="2312" b="1">
                <a:solidFill>
                  <a:srgbClr val="1E1E1A"/>
                </a:solidFill>
                <a:latin typeface="Arimo Bold"/>
                <a:ea typeface="Arimo Bold"/>
                <a:cs typeface="Arimo Bold"/>
                <a:sym typeface="Arimo Bold"/>
              </a:rPr>
              <a:t>quikr_car.csv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7768530" y="3861495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459" r="-94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444061" y="3825627"/>
            <a:ext cx="3627090" cy="3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Data Preprocessing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44061" y="4370635"/>
            <a:ext cx="4878140" cy="83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Removed missing values and duplicate entries to ensure data quality and integrity.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768530" y="5685532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6"/>
                </a:lnTo>
                <a:lnTo>
                  <a:pt x="0" y="3524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459" r="-94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444061" y="5649665"/>
            <a:ext cx="3196084" cy="3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Feature Cleaning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44061" y="6194673"/>
            <a:ext cx="4878140" cy="83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Cleaned and standardized the 'price', 'kilometers', and 'owner' columns for consistency.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7768530" y="750957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0" y="0"/>
                </a:moveTo>
                <a:lnTo>
                  <a:pt x="352425" y="0"/>
                </a:lnTo>
                <a:lnTo>
                  <a:pt x="352425" y="352425"/>
                </a:lnTo>
                <a:lnTo>
                  <a:pt x="0" y="352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9459" r="-94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444061" y="7473703"/>
            <a:ext cx="4128939" cy="3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Processed Data Export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44061" y="8018710"/>
            <a:ext cx="4878140" cy="83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Saved the refined dataset as </a:t>
            </a:r>
            <a:r>
              <a:rPr lang="en-US" sz="1812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cleaned_car.csv</a:t>
            </a: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model training.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905011" y="3194149"/>
            <a:ext cx="3570089" cy="762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Key Features for Prediction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05011" y="4106316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Company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05011" y="4564410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05011" y="5022502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905011" y="5480596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Fuel Type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05011" y="5938689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Kms Driven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05011" y="6396781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Owner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05011" y="6854875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Transmission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05011" y="7312967"/>
            <a:ext cx="3570089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Selling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1344" y="724495"/>
            <a:ext cx="16305311" cy="182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GET CAR PRICE: Crafting the Prediction Engine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1344" y="2626965"/>
            <a:ext cx="7735640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Algorithm Used: </a:t>
            </a:r>
            <a:r>
              <a:rPr lang="en-US" sz="2750" b="1">
                <a:solidFill>
                  <a:srgbClr val="1E1E1A"/>
                </a:solidFill>
                <a:latin typeface="Arimo Bold"/>
                <a:ea typeface="Arimo Bold"/>
                <a:cs typeface="Arimo Bold"/>
                <a:sym typeface="Arimo Bold"/>
              </a:rPr>
              <a:t>Linear Regression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1344" y="3427660"/>
            <a:ext cx="283220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1344" y="3975646"/>
            <a:ext cx="5246191" cy="38100"/>
            <a:chOff x="0" y="0"/>
            <a:chExt cx="6994922" cy="5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94906" cy="50800"/>
            </a:xfrm>
            <a:custGeom>
              <a:avLst/>
              <a:gdLst/>
              <a:ahLst/>
              <a:cxnLst/>
              <a:rect l="l" t="t" r="r" b="b"/>
              <a:pathLst>
                <a:path w="6994906" h="50800">
                  <a:moveTo>
                    <a:pt x="0" y="0"/>
                  </a:moveTo>
                  <a:lnTo>
                    <a:pt x="6994906" y="0"/>
                  </a:lnTo>
                  <a:lnTo>
                    <a:pt x="699490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1344" y="4155281"/>
            <a:ext cx="3861644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Import Libraries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1344" y="4710559"/>
            <a:ext cx="5246191" cy="1907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Utilized essential libraries such as Pandas for data manipulation, NumPy for numerical operations, and Sklearn for machine learning functionalities.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20755" y="3427660"/>
            <a:ext cx="283220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20755" y="3975646"/>
            <a:ext cx="5246340" cy="38100"/>
            <a:chOff x="0" y="0"/>
            <a:chExt cx="6995120" cy="50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95160" cy="50800"/>
            </a:xfrm>
            <a:custGeom>
              <a:avLst/>
              <a:gdLst/>
              <a:ahLst/>
              <a:cxnLst/>
              <a:rect l="l" t="t" r="r" b="b"/>
              <a:pathLst>
                <a:path w="6995160" h="50800">
                  <a:moveTo>
                    <a:pt x="0" y="0"/>
                  </a:moveTo>
                  <a:lnTo>
                    <a:pt x="6995160" y="0"/>
                  </a:lnTo>
                  <a:lnTo>
                    <a:pt x="69951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520755" y="4155281"/>
            <a:ext cx="3831431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Data Preparation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20755" y="4710559"/>
            <a:ext cx="5246340" cy="100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Performed thorough cleaning and encoding of categorical data to prepare it for the model.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50315" y="3427660"/>
            <a:ext cx="283220" cy="45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50315" y="3975646"/>
            <a:ext cx="5246340" cy="38100"/>
            <a:chOff x="0" y="0"/>
            <a:chExt cx="6995120" cy="50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95160" cy="50800"/>
            </a:xfrm>
            <a:custGeom>
              <a:avLst/>
              <a:gdLst/>
              <a:ahLst/>
              <a:cxnLst/>
              <a:rect l="l" t="t" r="r" b="b"/>
              <a:pathLst>
                <a:path w="6995160" h="50800">
                  <a:moveTo>
                    <a:pt x="0" y="0"/>
                  </a:moveTo>
                  <a:lnTo>
                    <a:pt x="6995160" y="0"/>
                  </a:lnTo>
                  <a:lnTo>
                    <a:pt x="699516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050315" y="4155281"/>
            <a:ext cx="3540770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Data Splitting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50315" y="4710559"/>
            <a:ext cx="5246340" cy="145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Divided the dataset into distinct training and testing sets to evaluate model performance objectively.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1344" y="7008762"/>
            <a:ext cx="283220" cy="45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1344" y="7556747"/>
            <a:ext cx="8010971" cy="38100"/>
            <a:chOff x="0" y="0"/>
            <a:chExt cx="10681295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681335" cy="50800"/>
            </a:xfrm>
            <a:custGeom>
              <a:avLst/>
              <a:gdLst/>
              <a:ahLst/>
              <a:cxnLst/>
              <a:rect l="l" t="t" r="r" b="b"/>
              <a:pathLst>
                <a:path w="10681335" h="50800">
                  <a:moveTo>
                    <a:pt x="0" y="0"/>
                  </a:moveTo>
                  <a:lnTo>
                    <a:pt x="10681335" y="0"/>
                  </a:lnTo>
                  <a:lnTo>
                    <a:pt x="1068133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91344" y="7736384"/>
            <a:ext cx="3540770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Model Training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1344" y="8291661"/>
            <a:ext cx="8010971" cy="100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Trained the Linear Regression Model on the prepared training data, learning the intricate relationships between features and car prices.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5535" y="7008762"/>
            <a:ext cx="283220" cy="45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85535" y="7556747"/>
            <a:ext cx="8011120" cy="38100"/>
            <a:chOff x="0" y="0"/>
            <a:chExt cx="10681493" cy="5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81462" cy="50800"/>
            </a:xfrm>
            <a:custGeom>
              <a:avLst/>
              <a:gdLst/>
              <a:ahLst/>
              <a:cxnLst/>
              <a:rect l="l" t="t" r="r" b="b"/>
              <a:pathLst>
                <a:path w="10681462" h="50800">
                  <a:moveTo>
                    <a:pt x="0" y="0"/>
                  </a:moveTo>
                  <a:lnTo>
                    <a:pt x="10681462" y="0"/>
                  </a:lnTo>
                  <a:lnTo>
                    <a:pt x="1068146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C8CAC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285535" y="7736384"/>
            <a:ext cx="4612332" cy="480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Model Serialization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285535" y="8291661"/>
            <a:ext cx="8011120" cy="100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Saved the trained model using Pickle as </a:t>
            </a:r>
            <a:r>
              <a:rPr lang="en-US" sz="2187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LinearRegressionModel.pkl</a:t>
            </a:r>
            <a:r>
              <a:rPr lang="en-US" sz="2187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for future deployment and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2428" y="452586"/>
            <a:ext cx="8478291" cy="57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0"/>
              </a:lnSpc>
            </a:pPr>
            <a:r>
              <a:rPr lang="en-US" sz="34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Backend: The Flask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2428" y="1320850"/>
            <a:ext cx="17063145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US" sz="1375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application.py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file orchestrates the backend logic, seamlessly integrating our machine learning model with the web interface.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2428" y="1955006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Loads the trained ML model using Pickle.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2428" y="2296120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Reads the cleaned car data from </a:t>
            </a:r>
            <a:r>
              <a:rPr lang="en-US" sz="1375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cleaned_car.csv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2428" y="2637235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Renders </a:t>
            </a:r>
            <a:r>
              <a:rPr lang="en-US" sz="1375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index.html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present the user interface.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428" y="2978349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Collects user inputs from the prediction form.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428" y="3319462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Predicts the car price using the loaded ML model.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428" y="3660576"/>
            <a:ext cx="8318152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Sends the prediction result back to the frontend for display.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366945" y="2051447"/>
            <a:ext cx="8318152" cy="8318152"/>
            <a:chOff x="0" y="0"/>
            <a:chExt cx="11090870" cy="1109087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1090910" cy="11090910"/>
            </a:xfrm>
            <a:custGeom>
              <a:avLst/>
              <a:gdLst/>
              <a:ahLst/>
              <a:cxnLst/>
              <a:rect l="l" t="t" r="r" b="b"/>
              <a:pathLst>
                <a:path w="11090910" h="11090910">
                  <a:moveTo>
                    <a:pt x="0" y="0"/>
                  </a:moveTo>
                  <a:lnTo>
                    <a:pt x="11090910" y="0"/>
                  </a:lnTo>
                  <a:lnTo>
                    <a:pt x="11090910" y="11090910"/>
                  </a:lnTo>
                  <a:lnTo>
                    <a:pt x="0" y="1109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2428" y="10763101"/>
            <a:ext cx="17063145" cy="1191517"/>
            <a:chOff x="0" y="0"/>
            <a:chExt cx="22750860" cy="15886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750907" cy="1588770"/>
            </a:xfrm>
            <a:custGeom>
              <a:avLst/>
              <a:gdLst/>
              <a:ahLst/>
              <a:cxnLst/>
              <a:rect l="l" t="t" r="r" b="b"/>
              <a:pathLst>
                <a:path w="22750907" h="1588770">
                  <a:moveTo>
                    <a:pt x="0" y="35052"/>
                  </a:moveTo>
                  <a:cubicBezTo>
                    <a:pt x="0" y="15621"/>
                    <a:pt x="15621" y="0"/>
                    <a:pt x="35052" y="0"/>
                  </a:cubicBezTo>
                  <a:lnTo>
                    <a:pt x="22715855" y="0"/>
                  </a:lnTo>
                  <a:cubicBezTo>
                    <a:pt x="22735160" y="0"/>
                    <a:pt x="22750907" y="15621"/>
                    <a:pt x="22750907" y="35052"/>
                  </a:cubicBezTo>
                  <a:lnTo>
                    <a:pt x="22750907" y="1553718"/>
                  </a:lnTo>
                  <a:cubicBezTo>
                    <a:pt x="22750907" y="1573022"/>
                    <a:pt x="22735287" y="1588770"/>
                    <a:pt x="22715855" y="1588770"/>
                  </a:cubicBezTo>
                  <a:lnTo>
                    <a:pt x="35052" y="1588770"/>
                  </a:lnTo>
                  <a:cubicBezTo>
                    <a:pt x="15748" y="1588770"/>
                    <a:pt x="0" y="1573149"/>
                    <a:pt x="0" y="1553718"/>
                  </a:cubicBezTo>
                  <a:close/>
                </a:path>
              </a:pathLst>
            </a:custGeom>
            <a:solidFill>
              <a:srgbClr val="DBDBD6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87301" y="11009262"/>
            <a:ext cx="273397" cy="218629"/>
            <a:chOff x="0" y="0"/>
            <a:chExt cx="364530" cy="291505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364490" cy="291465"/>
            </a:xfrm>
            <a:custGeom>
              <a:avLst/>
              <a:gdLst/>
              <a:ahLst/>
              <a:cxnLst/>
              <a:rect l="l" t="t" r="r" b="b"/>
              <a:pathLst>
                <a:path w="364490" h="291465">
                  <a:moveTo>
                    <a:pt x="0" y="0"/>
                  </a:moveTo>
                  <a:lnTo>
                    <a:pt x="364490" y="0"/>
                  </a:lnTo>
                  <a:lnTo>
                    <a:pt x="364490" y="291465"/>
                  </a:lnTo>
                  <a:lnTo>
                    <a:pt x="0" y="291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4" r="-425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35571" y="10953006"/>
            <a:ext cx="2187625" cy="30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Libraries Used: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5571" y="11372701"/>
            <a:ext cx="16265127" cy="33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Flask, Pandas, Pickle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8828" y="448121"/>
            <a:ext cx="107879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Frontend: Interactive User Experience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18828" y="1335138"/>
            <a:ext cx="17050345" cy="3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lang="en-US" sz="1375">
                <a:solidFill>
                  <a:srgbClr val="1E1E1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index.html</a:t>
            </a: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file, styled with CSS, provides an intuitive and responsive interface for users to interact with our prediction model.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8828" y="2022127"/>
            <a:ext cx="261565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Frontend Features: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18828" y="2446585"/>
            <a:ext cx="8309521" cy="3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Dropdowns for Company, Model, Year, Fuel Type, Owner, Transmission.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8828" y="2791122"/>
            <a:ext cx="8309521" cy="3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Input field for Kilometers Driven.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8828" y="3135660"/>
            <a:ext cx="8309521" cy="3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Clearly visible Predict Button.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8828" y="3480198"/>
            <a:ext cx="8309521" cy="339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Clean and responsive UI for optimal user experience.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369178" y="2072729"/>
            <a:ext cx="8309521" cy="8309521"/>
            <a:chOff x="0" y="0"/>
            <a:chExt cx="11079362" cy="1107936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1079353" cy="11079353"/>
            </a:xfrm>
            <a:custGeom>
              <a:avLst/>
              <a:gdLst/>
              <a:ahLst/>
              <a:cxnLst/>
              <a:rect l="l" t="t" r="r" b="b"/>
              <a:pathLst>
                <a:path w="11079353" h="11079353">
                  <a:moveTo>
                    <a:pt x="0" y="0"/>
                  </a:moveTo>
                  <a:lnTo>
                    <a:pt x="11079353" y="0"/>
                  </a:lnTo>
                  <a:lnTo>
                    <a:pt x="11079353" y="11079353"/>
                  </a:lnTo>
                  <a:lnTo>
                    <a:pt x="0" y="11079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369178" y="10552509"/>
            <a:ext cx="278546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Flask Template Tags: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9178" y="10976967"/>
            <a:ext cx="8309521" cy="35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{{ }} → Used to display dynamic data.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69178" y="11340554"/>
            <a:ext cx="8309521" cy="35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7367" lvl="1" indent="-103684" algn="l">
              <a:lnSpc>
                <a:spcPts val="2187"/>
              </a:lnSpc>
              <a:buFont typeface="Arial"/>
              <a:buChar char="•"/>
            </a:pPr>
            <a:r>
              <a:rPr lang="en-US" sz="1375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{% %} → Utilized for control flow, loops, and logic within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0461" y="595907"/>
            <a:ext cx="14786223" cy="79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Working Process: From Input to Insight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0461" y="1783259"/>
            <a:ext cx="16627079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system follows a streamlined process to deliver quick and accurate car price predictions.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30461" y="2515344"/>
            <a:ext cx="1186309" cy="1423690"/>
            <a:chOff x="0" y="0"/>
            <a:chExt cx="1581745" cy="1898253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581785" cy="1898269"/>
            </a:xfrm>
            <a:custGeom>
              <a:avLst/>
              <a:gdLst/>
              <a:ahLst/>
              <a:cxnLst/>
              <a:rect l="l" t="t" r="r" b="b"/>
              <a:pathLst>
                <a:path w="1581785" h="1898269">
                  <a:moveTo>
                    <a:pt x="0" y="0"/>
                  </a:moveTo>
                  <a:lnTo>
                    <a:pt x="1581785" y="0"/>
                  </a:lnTo>
                  <a:lnTo>
                    <a:pt x="1581785" y="1898269"/>
                  </a:lnTo>
                  <a:lnTo>
                    <a:pt x="0" y="1898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9" r="-3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54002" y="2724001"/>
            <a:ext cx="2965996" cy="39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User Input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54002" y="3179861"/>
            <a:ext cx="15203537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enters car details on the prediction webpage.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830461" y="3939034"/>
            <a:ext cx="1186309" cy="1423690"/>
            <a:chOff x="0" y="0"/>
            <a:chExt cx="1581745" cy="1898253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581785" cy="1898269"/>
            </a:xfrm>
            <a:custGeom>
              <a:avLst/>
              <a:gdLst/>
              <a:ahLst/>
              <a:cxnLst/>
              <a:rect l="l" t="t" r="r" b="b"/>
              <a:pathLst>
                <a:path w="1581785" h="1898269">
                  <a:moveTo>
                    <a:pt x="0" y="0"/>
                  </a:moveTo>
                  <a:lnTo>
                    <a:pt x="1581785" y="0"/>
                  </a:lnTo>
                  <a:lnTo>
                    <a:pt x="1581785" y="1898269"/>
                  </a:lnTo>
                  <a:lnTo>
                    <a:pt x="0" y="1898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9" r="-3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54002" y="4147691"/>
            <a:ext cx="3516362" cy="39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Data Transmission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54002" y="4603551"/>
            <a:ext cx="15203537" cy="47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is securely sent to the Flask backend (/predict route).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30461" y="5362724"/>
            <a:ext cx="1186309" cy="1423690"/>
            <a:chOff x="0" y="0"/>
            <a:chExt cx="1581745" cy="1898253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581785" cy="1898269"/>
            </a:xfrm>
            <a:custGeom>
              <a:avLst/>
              <a:gdLst/>
              <a:ahLst/>
              <a:cxnLst/>
              <a:rect l="l" t="t" r="r" b="b"/>
              <a:pathLst>
                <a:path w="1581785" h="1898269">
                  <a:moveTo>
                    <a:pt x="0" y="0"/>
                  </a:moveTo>
                  <a:lnTo>
                    <a:pt x="1581785" y="0"/>
                  </a:lnTo>
                  <a:lnTo>
                    <a:pt x="1581785" y="1898269"/>
                  </a:lnTo>
                  <a:lnTo>
                    <a:pt x="0" y="1898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9" r="-3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254002" y="5571381"/>
            <a:ext cx="3758952" cy="39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Backend Processing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54002" y="6027241"/>
            <a:ext cx="15203537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Backend preprocesses the received data to match model requirements.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830461" y="6786414"/>
            <a:ext cx="1186309" cy="1423690"/>
            <a:chOff x="0" y="0"/>
            <a:chExt cx="1581745" cy="1898253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581785" cy="1898269"/>
            </a:xfrm>
            <a:custGeom>
              <a:avLst/>
              <a:gdLst/>
              <a:ahLst/>
              <a:cxnLst/>
              <a:rect l="l" t="t" r="r" b="b"/>
              <a:pathLst>
                <a:path w="1581785" h="1898269">
                  <a:moveTo>
                    <a:pt x="0" y="0"/>
                  </a:moveTo>
                  <a:lnTo>
                    <a:pt x="1581785" y="0"/>
                  </a:lnTo>
                  <a:lnTo>
                    <a:pt x="1581785" y="1898269"/>
                  </a:lnTo>
                  <a:lnTo>
                    <a:pt x="0" y="1898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9" r="-3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254002" y="6995071"/>
            <a:ext cx="3280172" cy="39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Model Prediction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54002" y="7450931"/>
            <a:ext cx="15203537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trained machine learning model calculates the car's predicted price.</a:t>
            </a:r>
          </a:p>
        </p:txBody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830461" y="8210104"/>
            <a:ext cx="1186309" cy="1423690"/>
            <a:chOff x="0" y="0"/>
            <a:chExt cx="1581745" cy="1898253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581785" cy="1898269"/>
            </a:xfrm>
            <a:custGeom>
              <a:avLst/>
              <a:gdLst/>
              <a:ahLst/>
              <a:cxnLst/>
              <a:rect l="l" t="t" r="r" b="b"/>
              <a:pathLst>
                <a:path w="1581785" h="1898269">
                  <a:moveTo>
                    <a:pt x="0" y="0"/>
                  </a:moveTo>
                  <a:lnTo>
                    <a:pt x="1581785" y="0"/>
                  </a:lnTo>
                  <a:lnTo>
                    <a:pt x="1581785" y="1898269"/>
                  </a:lnTo>
                  <a:lnTo>
                    <a:pt x="0" y="1898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39" r="-33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254002" y="8418760"/>
            <a:ext cx="2965996" cy="39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Result Display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54002" y="8874621"/>
            <a:ext cx="15203537" cy="465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predicted price is then prominently displayed on the same webpage.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45790" y="1098649"/>
            <a:ext cx="16442382" cy="793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Technologies Used: Our Toolkit for Success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845790" y="2375298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493" b="-64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845790" y="3383161"/>
            <a:ext cx="3021062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Python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5790" y="3839021"/>
            <a:ext cx="8147149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core programming language enabling our entire project.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294911" y="2375298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98" r="-12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294911" y="3383161"/>
            <a:ext cx="3021063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Pandas &amp; NumPy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4911" y="3839021"/>
            <a:ext cx="8147297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Indispensable libraries for efficient data manipulation and numerical operations.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845790" y="4794647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2"/>
                </a:lnTo>
                <a:lnTo>
                  <a:pt x="0" y="724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98" r="-129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45790" y="5802511"/>
            <a:ext cx="3021062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Scikit-learn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5790" y="6258371"/>
            <a:ext cx="8147149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robust library used for building and training our machine learning model.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294911" y="4794647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2"/>
                </a:lnTo>
                <a:lnTo>
                  <a:pt x="0" y="7249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8441" b="-84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9294911" y="5802511"/>
            <a:ext cx="3021063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Flask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4911" y="6258371"/>
            <a:ext cx="8147297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lightweight web framework powering our interactive application.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845790" y="7213998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5844" r="-58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845790" y="8221861"/>
            <a:ext cx="3021062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HTML &amp; CSS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790" y="8677721"/>
            <a:ext cx="8147149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foundational languages for designing and styling our responsive frontend.</a:t>
            </a:r>
          </a:p>
        </p:txBody>
      </p:sp>
      <p:sp>
        <p:nvSpPr>
          <p:cNvPr id="22" name="Freeform 22" descr="preencoded.png"/>
          <p:cNvSpPr/>
          <p:nvPr/>
        </p:nvSpPr>
        <p:spPr>
          <a:xfrm>
            <a:off x="9294911" y="7213998"/>
            <a:ext cx="724941" cy="724941"/>
          </a:xfrm>
          <a:custGeom>
            <a:avLst/>
            <a:gdLst/>
            <a:ahLst/>
            <a:cxnLst/>
            <a:rect l="l" t="t" r="r" b="b"/>
            <a:pathLst>
              <a:path w="724941" h="724941">
                <a:moveTo>
                  <a:pt x="0" y="0"/>
                </a:moveTo>
                <a:lnTo>
                  <a:pt x="724941" y="0"/>
                </a:lnTo>
                <a:lnTo>
                  <a:pt x="724941" y="724941"/>
                </a:lnTo>
                <a:lnTo>
                  <a:pt x="0" y="72494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6883" b="-168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9294911" y="8221861"/>
            <a:ext cx="3021063" cy="3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1">
                <a:solidFill>
                  <a:srgbClr val="55575A"/>
                </a:solidFill>
                <a:latin typeface="Arimo Bold"/>
                <a:ea typeface="Arimo Bold"/>
                <a:cs typeface="Arimo Bold"/>
                <a:sym typeface="Arimo Bold"/>
              </a:rPr>
              <a:t>Pickle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94911" y="8677721"/>
            <a:ext cx="8147297" cy="472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874">
                <a:solidFill>
                  <a:srgbClr val="55575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Used for serializing and deserializing our trained machine learning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D0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8E8E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6044" y="351681"/>
            <a:ext cx="7675810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C0D0F"/>
                </a:solidFill>
                <a:latin typeface="Arimo Bold"/>
                <a:ea typeface="Arimo Bold"/>
                <a:cs typeface="Arimo Bold"/>
                <a:sym typeface="Arimo Bold"/>
              </a:rPr>
              <a:t>Final Project Output: GET CAR PRICE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2639182" y="1054151"/>
            <a:ext cx="10774299" cy="8881168"/>
            <a:chOff x="0" y="1"/>
            <a:chExt cx="14365732" cy="1231046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1"/>
              <a:ext cx="14365732" cy="12310467"/>
            </a:xfrm>
            <a:custGeom>
              <a:avLst/>
              <a:gdLst/>
              <a:ahLst/>
              <a:cxnLst/>
              <a:rect l="l" t="t" r="r" b="b"/>
              <a:pathLst>
                <a:path w="14365732" h="20431506">
                  <a:moveTo>
                    <a:pt x="0" y="0"/>
                  </a:moveTo>
                  <a:lnTo>
                    <a:pt x="14365732" y="0"/>
                  </a:lnTo>
                  <a:lnTo>
                    <a:pt x="14365732" y="20431506"/>
                  </a:lnTo>
                  <a:lnTo>
                    <a:pt x="0" y="20431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" b="-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832</Words>
  <Application>Microsoft Macintosh PowerPoint</Application>
  <PresentationFormat>Custom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Roboto Condensed</vt:lpstr>
      <vt:lpstr>Calibri</vt:lpstr>
      <vt:lpstr>Arimo</vt:lpstr>
      <vt:lpstr>Arimo Bold</vt:lpstr>
      <vt:lpstr>Arial</vt:lpstr>
      <vt:lpstr>Roboto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GET-CAR-PRICE.pptx</dc:title>
  <cp:lastModifiedBy>Sachin  Loyal</cp:lastModifiedBy>
  <cp:revision>2</cp:revision>
  <dcterms:created xsi:type="dcterms:W3CDTF">2006-08-16T00:00:00Z</dcterms:created>
  <dcterms:modified xsi:type="dcterms:W3CDTF">2025-11-12T05:17:38Z</dcterms:modified>
  <dc:identifier>DAG4dUyVtBo</dc:identifier>
</cp:coreProperties>
</file>